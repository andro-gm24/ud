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591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474720" cy="3474720"/>
          </a:xfrm>
          <a:prstGeom prst="ellipse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kern="0" spc="300" dirty="0" err="1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r>
              <a:rPr lang="en-US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kern="0" spc="300" dirty="0" err="1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</a:t>
            </a:r>
            <a:r>
              <a:rPr lang="en-US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kern="0" spc="300" dirty="0" err="1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Dataset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con KNN y Árbol de Decisión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2286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150 muestras  ·  3 clases  ·  4 </a:t>
            </a:r>
            <a:r>
              <a:rPr lang="en-US" sz="1200" dirty="0" err="1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br>
              <a:rPr lang="en-US" sz="1200" dirty="0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https://colab.research.google.com/drive/1DgLR_DegxhamkD6aTA9ESqOTFU_A5HAN?usp=sharing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Parra Caballero 20222020097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Introducción al Machine Learning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82880" y="4846320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Iris Dataset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91440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274320" y="914400"/>
            <a:ext cx="41148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Machine Learning?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14630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de la inteligencia artificial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aprenden patrones a partir de datos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programan reglas manualmente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generaliza para predecir casos nuevos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Usos: diagnóstico médico, recomendaciones, visión por computadora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4754880" y="914400"/>
            <a:ext cx="41148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problema de clasificación?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892040" y="14630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una etiqueta o categoría a una entrada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características (números, texto, imágenes)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clase (ej. 'gato', 'perro', 'setosa')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aprende la frontera entre clases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dado el tamaño del pétalo → ¿qué flor es?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¿Qué es el Iris Dataset?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82880" y="4846320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Iris Dataset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914400"/>
            <a:ext cx="2651760" cy="1005840"/>
          </a:xfrm>
          <a:prstGeom prst="rect">
            <a:avLst/>
          </a:prstGeom>
          <a:solidFill>
            <a:srgbClr val="2C5F2D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274320" y="9326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274320" y="1444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totales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914400"/>
            <a:ext cx="2651760" cy="1005840"/>
          </a:xfrm>
          <a:prstGeom prst="rect">
            <a:avLst/>
          </a:prstGeom>
          <a:solidFill>
            <a:srgbClr val="F4A261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3200400" y="9326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200400" y="1444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 flores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914400"/>
            <a:ext cx="2651760" cy="1005840"/>
          </a:xfrm>
          <a:prstGeom prst="rect">
            <a:avLst/>
          </a:prstGeom>
          <a:solidFill>
            <a:srgbClr val="1A3C34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6126480" y="9326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126480" y="1444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2103120"/>
            <a:ext cx="8412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Ronald A. Fisher, </a:t>
            </a:r>
            <a:r>
              <a:rPr lang="en-US" sz="14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britanico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(1936)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Setosa · Versicolor · Virginica (50 muestras c/u)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largo del sépalo, ancho del sépalo, largo del pétalo, ancho del pétalo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predecir la especie a partir de sus medidas en centímetros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Considerado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'Hola Mundo' del Machine Learning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Exploración de Datos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82880" y="4846320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Iris Dataset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91440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274320" y="914400"/>
            <a:ext cx="41148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365760" y="987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usar solo el pétalo?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141732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pétalo tiene mayor poder discriminativo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sépalo presenta más solapamiento entre clases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 variables podemos visualizar en un plano 2D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 la comprensión sin perder precisión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largo del pétalo · Y = ancho del pétalo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4754880" y="914400"/>
            <a:ext cx="41148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4846320" y="987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observa en la gráfica?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892040" y="1152144"/>
            <a:ext cx="3840480" cy="1223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completamente separada del resto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Versicolor: zona central del gráfico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Virginica: pétalos </a:t>
            </a:r>
            <a:r>
              <a:rPr lang="en-US" sz="14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grandes</a:t>
            </a:r>
            <a:endParaRPr lang="en-US" sz="14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41CA348-7D3D-AC0C-B6CE-9DCB1526F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718" y="2271962"/>
            <a:ext cx="2885284" cy="2247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Algoritmos Utilizados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82880" y="4846320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Iris Dataset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91440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274320" y="914400"/>
            <a:ext cx="41148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365760" y="9875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KNN — K Vecinos más Cercanos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1519953"/>
            <a:ext cx="3840480" cy="1607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clasificar un punto nuevo: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Busca los K puntos más cercanos en el espacio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Cuenta cuántos pertenecen a cada clase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Asigna la clase más frecuente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 en este experimento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 la escala de los datos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9372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4754880" y="914400"/>
            <a:ext cx="41148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4846320" y="9875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Árbol de Decisión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92040" y="1243979"/>
            <a:ext cx="3840480" cy="2374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reglas tipo SI–ENTONCES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regla: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largo_pétalo ≤ 2.45 → Setosa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largo_pétalo &gt; 2.45 Y ancho_pétalo ≤ 1.75 → Versicolor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OTRO CASO → Virginica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fronteras rectangulares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interpretable: se puede leer la lógica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Explicación del Código Python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82880" y="4846320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Iris Dataset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96012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82296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411480" y="1033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load_iris()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1371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dataset completo: 150 filas × 4 columnas + etiquetas de clase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82296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4892040" y="1033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e 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92040" y="1371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características (largo y ancho del pétalo) · y = etiqueta de clase (0, 1, 2)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74320" y="22860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274320" y="2286000"/>
            <a:ext cx="82296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411480" y="2359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train_test_split()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1480" y="26974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en 70% entrenamiento y 30% prueba. random_state=42 garantiza reproducibilidad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8"/>
          <p:cNvSpPr/>
          <p:nvPr/>
        </p:nvSpPr>
        <p:spPr>
          <a:xfrm>
            <a:off x="4754880" y="2286000"/>
            <a:ext cx="82296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4892040" y="2359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fit()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92040" y="26974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 el modelo: KNN memoriza los puntos; el Árbol construye las reglas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74320" y="36118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2"/>
          <p:cNvSpPr/>
          <p:nvPr/>
        </p:nvSpPr>
        <p:spPr>
          <a:xfrm>
            <a:off x="274320" y="3611880"/>
            <a:ext cx="82296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411480" y="3685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predict()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11480" y="4023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el modelo a los datos de prueba y genera una predicción por muestra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754880" y="36118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6"/>
          <p:cNvSpPr/>
          <p:nvPr/>
        </p:nvSpPr>
        <p:spPr>
          <a:xfrm>
            <a:off x="4754880" y="3611880"/>
            <a:ext cx="82296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7"/>
          <p:cNvSpPr/>
          <p:nvPr/>
        </p:nvSpPr>
        <p:spPr>
          <a:xfrm>
            <a:off x="4892040" y="3685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accuracy_score()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92040" y="4023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predicciones vs. valores reales. Precisión = aciertos / total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Visualización de Resultados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82880" y="4846320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Iris Dataset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91440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274320" y="914400"/>
            <a:ext cx="41148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365760" y="9875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Gráfica de Dispersión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1321810"/>
            <a:ext cx="3840480" cy="13553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X: largo del pétalo (cm)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Y: ancho del pétalo (cm)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del punto = especie real</a:t>
            </a:r>
            <a:endParaRPr lang="en-US" sz="14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= Setosa · Verde = Versicolor · Azul = Virginica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4754880" y="914400"/>
            <a:ext cx="41148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4846320" y="9875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Regiones de Decisión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92040" y="1417320"/>
            <a:ext cx="3840480" cy="9790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fondo coloreado muestra qué predice el modelo en cada zona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mal clasificados caen en zona de color </a:t>
            </a:r>
            <a:r>
              <a:rPr lang="en-US" sz="14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</a:t>
            </a:r>
            <a:endParaRPr lang="en-US" sz="14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4169651-FE61-71BC-9828-6110D115F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489" y="2588588"/>
            <a:ext cx="2300714" cy="1846252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08DE0AD-3306-68D4-A5A0-A23FDBA66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663059"/>
            <a:ext cx="1988460" cy="156604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D7CF198E-B8F8-7A2E-B09D-9F4A6D351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0094" y="2649097"/>
            <a:ext cx="1988460" cy="15729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Comparación de Algoritmos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82880" y="4846320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Iris Dataset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914400"/>
            <a:ext cx="1828800" cy="4114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03120" y="914400"/>
            <a:ext cx="3474720" cy="4114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2148840" y="914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77840" y="914400"/>
            <a:ext cx="3474720" cy="4114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5623560" y="914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1325880"/>
            <a:ext cx="1828800" cy="566928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347472" y="13258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103120" y="1325880"/>
            <a:ext cx="3474720" cy="566928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2176272" y="132588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y suaves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577840" y="1325880"/>
            <a:ext cx="3474720" cy="566928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5650992" y="132588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Rectangulares (angulares)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74320" y="1892808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347472" y="189280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103120" y="1892808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0"/>
          <p:cNvSpPr/>
          <p:nvPr/>
        </p:nvSpPr>
        <p:spPr>
          <a:xfrm>
            <a:off x="2176272" y="189280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– es una 'caja negra'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577840" y="1892808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5650992" y="189280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– se leen las reglas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74320" y="2459736"/>
            <a:ext cx="1828800" cy="566928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4"/>
          <p:cNvSpPr/>
          <p:nvPr/>
        </p:nvSpPr>
        <p:spPr>
          <a:xfrm>
            <a:off x="347472" y="245973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entren.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2103120" y="2459736"/>
            <a:ext cx="3474720" cy="566928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2176272" y="245973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rápido (guarda datos)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577840" y="2459736"/>
            <a:ext cx="3474720" cy="566928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8"/>
          <p:cNvSpPr/>
          <p:nvPr/>
        </p:nvSpPr>
        <p:spPr>
          <a:xfrm>
            <a:off x="5650992" y="245973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(construye árbol)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274320" y="3026664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347472" y="302666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2103120" y="3026664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2"/>
          <p:cNvSpPr/>
          <p:nvPr/>
        </p:nvSpPr>
        <p:spPr>
          <a:xfrm>
            <a:off x="2176272" y="302666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(~97% en Iris)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577840" y="3026664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4"/>
          <p:cNvSpPr/>
          <p:nvPr/>
        </p:nvSpPr>
        <p:spPr>
          <a:xfrm>
            <a:off x="5650992" y="302666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(~95-97% en Iris)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274320" y="3593592"/>
            <a:ext cx="1828800" cy="566928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6"/>
          <p:cNvSpPr/>
          <p:nvPr/>
        </p:nvSpPr>
        <p:spPr>
          <a:xfrm>
            <a:off x="347472" y="359359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2103120" y="3593592"/>
            <a:ext cx="3474720" cy="566928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8"/>
          <p:cNvSpPr/>
          <p:nvPr/>
        </p:nvSpPr>
        <p:spPr>
          <a:xfrm>
            <a:off x="2176272" y="359359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 escala y ruido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5577840" y="3593592"/>
            <a:ext cx="3474720" cy="566928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0"/>
          <p:cNvSpPr/>
          <p:nvPr/>
        </p:nvSpPr>
        <p:spPr>
          <a:xfrm>
            <a:off x="5650992" y="359359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sobreajustarse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solidFill>
            <a:srgbClr val="E8F0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 Iris, KNN suele lograr mayor precisión; el Árbol ofrece mayor interpretabilidad.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Comparación de Métricas — KNN vs. Árbol de Decisión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82880" y="4846320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Iris Dataset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914400"/>
            <a:ext cx="4114800" cy="96012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384048" y="9326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 Accuracy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651760" y="129844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0.97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4114800" cy="96012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4864608" y="9326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Accuracy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64608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132320" y="129844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0.95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2011680"/>
            <a:ext cx="1417320" cy="347472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310896" y="201168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783080" y="2011680"/>
            <a:ext cx="822960" cy="347472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1819656" y="2011680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651760" y="2011680"/>
            <a:ext cx="822960" cy="347472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2688336" y="2011680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520440" y="2011680"/>
            <a:ext cx="822960" cy="347472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0"/>
          <p:cNvSpPr/>
          <p:nvPr/>
        </p:nvSpPr>
        <p:spPr>
          <a:xfrm>
            <a:off x="3557016" y="2011680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2011680"/>
            <a:ext cx="1417320" cy="34747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4791456" y="201168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63640" y="2011680"/>
            <a:ext cx="822960" cy="34747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4"/>
          <p:cNvSpPr/>
          <p:nvPr/>
        </p:nvSpPr>
        <p:spPr>
          <a:xfrm>
            <a:off x="6300216" y="2011680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132320" y="2011680"/>
            <a:ext cx="822960" cy="34747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7168896" y="2011680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01000" y="2011680"/>
            <a:ext cx="822960" cy="34747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8"/>
          <p:cNvSpPr/>
          <p:nvPr/>
        </p:nvSpPr>
        <p:spPr>
          <a:xfrm>
            <a:off x="8037576" y="2011680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74320" y="18105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(k=3)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754880" y="18105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74320" y="2359152"/>
            <a:ext cx="141732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2"/>
          <p:cNvSpPr/>
          <p:nvPr/>
        </p:nvSpPr>
        <p:spPr>
          <a:xfrm>
            <a:off x="329184" y="2359152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783080" y="2359152"/>
            <a:ext cx="82296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4"/>
          <p:cNvSpPr/>
          <p:nvPr/>
        </p:nvSpPr>
        <p:spPr>
          <a:xfrm>
            <a:off x="1837944" y="23591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2651760" y="2359152"/>
            <a:ext cx="82296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6"/>
          <p:cNvSpPr/>
          <p:nvPr/>
        </p:nvSpPr>
        <p:spPr>
          <a:xfrm>
            <a:off x="2706624" y="23591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3520440" y="2359152"/>
            <a:ext cx="82296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8"/>
          <p:cNvSpPr/>
          <p:nvPr/>
        </p:nvSpPr>
        <p:spPr>
          <a:xfrm>
            <a:off x="3575304" y="23591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754880" y="2359152"/>
            <a:ext cx="141732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0"/>
          <p:cNvSpPr/>
          <p:nvPr/>
        </p:nvSpPr>
        <p:spPr>
          <a:xfrm>
            <a:off x="4809744" y="2359152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263640" y="2359152"/>
            <a:ext cx="82296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2"/>
          <p:cNvSpPr/>
          <p:nvPr/>
        </p:nvSpPr>
        <p:spPr>
          <a:xfrm>
            <a:off x="6318504" y="23591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7132320" y="2359152"/>
            <a:ext cx="82296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4"/>
          <p:cNvSpPr/>
          <p:nvPr/>
        </p:nvSpPr>
        <p:spPr>
          <a:xfrm>
            <a:off x="7187184" y="23591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8001000" y="2359152"/>
            <a:ext cx="82296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6"/>
          <p:cNvSpPr/>
          <p:nvPr/>
        </p:nvSpPr>
        <p:spPr>
          <a:xfrm>
            <a:off x="8055864" y="23591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274320" y="2816352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8"/>
          <p:cNvSpPr/>
          <p:nvPr/>
        </p:nvSpPr>
        <p:spPr>
          <a:xfrm>
            <a:off x="329184" y="2816352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1783080" y="2816352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0"/>
          <p:cNvSpPr/>
          <p:nvPr/>
        </p:nvSpPr>
        <p:spPr>
          <a:xfrm>
            <a:off x="1837944" y="28163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2651760" y="2816352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2"/>
          <p:cNvSpPr/>
          <p:nvPr/>
        </p:nvSpPr>
        <p:spPr>
          <a:xfrm>
            <a:off x="2706624" y="28163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3520440" y="2816352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4"/>
          <p:cNvSpPr/>
          <p:nvPr/>
        </p:nvSpPr>
        <p:spPr>
          <a:xfrm>
            <a:off x="3575304" y="28163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4754880" y="2816352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6"/>
          <p:cNvSpPr/>
          <p:nvPr/>
        </p:nvSpPr>
        <p:spPr>
          <a:xfrm>
            <a:off x="4809744" y="2816352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6263640" y="2816352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58"/>
          <p:cNvSpPr/>
          <p:nvPr/>
        </p:nvSpPr>
        <p:spPr>
          <a:xfrm>
            <a:off x="6318504" y="28163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7132320" y="2816352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0"/>
          <p:cNvSpPr/>
          <p:nvPr/>
        </p:nvSpPr>
        <p:spPr>
          <a:xfrm>
            <a:off x="7187184" y="28163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8001000" y="2816352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62"/>
          <p:cNvSpPr/>
          <p:nvPr/>
        </p:nvSpPr>
        <p:spPr>
          <a:xfrm>
            <a:off x="8055864" y="28163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274320" y="3273552"/>
            <a:ext cx="141732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Text 64"/>
          <p:cNvSpPr/>
          <p:nvPr/>
        </p:nvSpPr>
        <p:spPr>
          <a:xfrm>
            <a:off x="329184" y="3273552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1783080" y="3273552"/>
            <a:ext cx="82296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9" name="Text 66"/>
          <p:cNvSpPr/>
          <p:nvPr/>
        </p:nvSpPr>
        <p:spPr>
          <a:xfrm>
            <a:off x="1837944" y="32735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2651760" y="3273552"/>
            <a:ext cx="82296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68"/>
          <p:cNvSpPr/>
          <p:nvPr/>
        </p:nvSpPr>
        <p:spPr>
          <a:xfrm>
            <a:off x="2706624" y="32735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3520440" y="3273552"/>
            <a:ext cx="82296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3" name="Text 70"/>
          <p:cNvSpPr/>
          <p:nvPr/>
        </p:nvSpPr>
        <p:spPr>
          <a:xfrm>
            <a:off x="3575304" y="32735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4754880" y="3273552"/>
            <a:ext cx="141732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5" name="Text 72"/>
          <p:cNvSpPr/>
          <p:nvPr/>
        </p:nvSpPr>
        <p:spPr>
          <a:xfrm>
            <a:off x="4809744" y="3273552"/>
            <a:ext cx="1362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</a:t>
            </a:r>
            <a:endParaRPr lang="en-US" sz="1200" dirty="0"/>
          </a:p>
        </p:txBody>
      </p:sp>
      <p:sp>
        <p:nvSpPr>
          <p:cNvPr id="76" name="Shape 73"/>
          <p:cNvSpPr/>
          <p:nvPr/>
        </p:nvSpPr>
        <p:spPr>
          <a:xfrm>
            <a:off x="6263640" y="3273552"/>
            <a:ext cx="82296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7" name="Text 74"/>
          <p:cNvSpPr/>
          <p:nvPr/>
        </p:nvSpPr>
        <p:spPr>
          <a:xfrm>
            <a:off x="6318504" y="32735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7132320" y="3273552"/>
            <a:ext cx="82296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9" name="Text 76"/>
          <p:cNvSpPr/>
          <p:nvPr/>
        </p:nvSpPr>
        <p:spPr>
          <a:xfrm>
            <a:off x="7187184" y="32735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80" name="Shape 77"/>
          <p:cNvSpPr/>
          <p:nvPr/>
        </p:nvSpPr>
        <p:spPr>
          <a:xfrm>
            <a:off x="8001000" y="3273552"/>
            <a:ext cx="822960" cy="438912"/>
          </a:xfrm>
          <a:prstGeom prst="rect">
            <a:avLst/>
          </a:prstGeom>
          <a:solidFill>
            <a:srgbClr val="E8F0E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1" name="Text 78"/>
          <p:cNvSpPr/>
          <p:nvPr/>
        </p:nvSpPr>
        <p:spPr>
          <a:xfrm>
            <a:off x="8055864" y="327355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200" dirty="0"/>
          </a:p>
        </p:txBody>
      </p:sp>
      <p:sp>
        <p:nvSpPr>
          <p:cNvPr id="82" name="Shape 79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E8F0E9"/>
          </a:solidFill>
          <a:ln w="12700">
            <a:solidFill>
              <a:srgbClr val="E8F0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3" name="Text 80"/>
          <p:cNvSpPr/>
          <p:nvPr/>
        </p:nvSpPr>
        <p:spPr>
          <a:xfrm>
            <a:off x="365760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Precisión (Prec.) = de los que predije como X, ¿cuántos son realmente X?   |   Recall (Rec.) = de los que son X, ¿cuántos detecté?   |   F1 = promedio armónico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Matrices de Confusión — KNN vs. Árbol de Decisión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82880" y="4846320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Iris Dataset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2860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(k=3)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234440" y="886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8600" y="169164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234440" y="1143000"/>
            <a:ext cx="914400" cy="4114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1234440" y="1143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48840" y="1143000"/>
            <a:ext cx="914400" cy="4114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2148840" y="1143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063240" y="1143000"/>
            <a:ext cx="914400" cy="4114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3063240" y="1143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8600" y="1554480"/>
            <a:ext cx="1005840" cy="56692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228600" y="155448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234440" y="1554480"/>
            <a:ext cx="914400" cy="566928"/>
          </a:xfrm>
          <a:prstGeom prst="rect">
            <a:avLst/>
          </a:prstGeom>
          <a:solidFill>
            <a:srgbClr val="1A6B3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1234440" y="15544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2148840" y="1554480"/>
            <a:ext cx="9144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2148840" y="15544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063240" y="1554480"/>
            <a:ext cx="9144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3063240" y="15544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228600" y="2121408"/>
            <a:ext cx="1005840" cy="56692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228600" y="212140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234440" y="2121408"/>
            <a:ext cx="9144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5"/>
          <p:cNvSpPr/>
          <p:nvPr/>
        </p:nvSpPr>
        <p:spPr>
          <a:xfrm>
            <a:off x="1234440" y="212140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2148840" y="2121408"/>
            <a:ext cx="914400" cy="566928"/>
          </a:xfrm>
          <a:prstGeom prst="rect">
            <a:avLst/>
          </a:prstGeom>
          <a:solidFill>
            <a:srgbClr val="52A96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7"/>
          <p:cNvSpPr/>
          <p:nvPr/>
        </p:nvSpPr>
        <p:spPr>
          <a:xfrm>
            <a:off x="2148840" y="212140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3063240" y="2121408"/>
            <a:ext cx="914400" cy="566928"/>
          </a:xfrm>
          <a:prstGeom prst="rect">
            <a:avLst/>
          </a:prstGeom>
          <a:solidFill>
            <a:srgbClr val="C0392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9"/>
          <p:cNvSpPr/>
          <p:nvPr/>
        </p:nvSpPr>
        <p:spPr>
          <a:xfrm>
            <a:off x="3063240" y="212140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228600" y="2688336"/>
            <a:ext cx="1005840" cy="56692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1"/>
          <p:cNvSpPr/>
          <p:nvPr/>
        </p:nvSpPr>
        <p:spPr>
          <a:xfrm>
            <a:off x="228600" y="268833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234440" y="2688336"/>
            <a:ext cx="9144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3"/>
          <p:cNvSpPr/>
          <p:nvPr/>
        </p:nvSpPr>
        <p:spPr>
          <a:xfrm>
            <a:off x="1234440" y="268833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2148840" y="2688336"/>
            <a:ext cx="9144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5"/>
          <p:cNvSpPr/>
          <p:nvPr/>
        </p:nvSpPr>
        <p:spPr>
          <a:xfrm>
            <a:off x="2148840" y="268833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063240" y="2688336"/>
            <a:ext cx="914400" cy="566928"/>
          </a:xfrm>
          <a:prstGeom prst="rect">
            <a:avLst/>
          </a:prstGeom>
          <a:solidFill>
            <a:srgbClr val="52A96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7"/>
          <p:cNvSpPr/>
          <p:nvPr/>
        </p:nvSpPr>
        <p:spPr>
          <a:xfrm>
            <a:off x="3063240" y="268833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228600" y="3346704"/>
            <a:ext cx="374904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39"/>
          <p:cNvSpPr/>
          <p:nvPr/>
        </p:nvSpPr>
        <p:spPr>
          <a:xfrm>
            <a:off x="228600" y="33467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97.8%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80060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4800600" y="169164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↓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806440" y="1143000"/>
            <a:ext cx="914400" cy="4114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4"/>
          <p:cNvSpPr/>
          <p:nvPr/>
        </p:nvSpPr>
        <p:spPr>
          <a:xfrm>
            <a:off x="5806440" y="1143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720840" y="1143000"/>
            <a:ext cx="914400" cy="4114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6"/>
          <p:cNvSpPr/>
          <p:nvPr/>
        </p:nvSpPr>
        <p:spPr>
          <a:xfrm>
            <a:off x="6720840" y="1143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Versic.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7635240" y="1143000"/>
            <a:ext cx="914400" cy="4114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8"/>
          <p:cNvSpPr/>
          <p:nvPr/>
        </p:nvSpPr>
        <p:spPr>
          <a:xfrm>
            <a:off x="7635240" y="1143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Virgin.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800600" y="1554480"/>
            <a:ext cx="1005840" cy="56692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0"/>
          <p:cNvSpPr/>
          <p:nvPr/>
        </p:nvSpPr>
        <p:spPr>
          <a:xfrm>
            <a:off x="4800600" y="155448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806440" y="1554480"/>
            <a:ext cx="914400" cy="566928"/>
          </a:xfrm>
          <a:prstGeom prst="rect">
            <a:avLst/>
          </a:prstGeom>
          <a:solidFill>
            <a:srgbClr val="1A6B3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2"/>
          <p:cNvSpPr/>
          <p:nvPr/>
        </p:nvSpPr>
        <p:spPr>
          <a:xfrm>
            <a:off x="5806440" y="15544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6720840" y="1554480"/>
            <a:ext cx="9144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4"/>
          <p:cNvSpPr/>
          <p:nvPr/>
        </p:nvSpPr>
        <p:spPr>
          <a:xfrm>
            <a:off x="6720840" y="15544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7635240" y="1554480"/>
            <a:ext cx="9144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6"/>
          <p:cNvSpPr/>
          <p:nvPr/>
        </p:nvSpPr>
        <p:spPr>
          <a:xfrm>
            <a:off x="7635240" y="15544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4800600" y="2121408"/>
            <a:ext cx="1005840" cy="56692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58"/>
          <p:cNvSpPr/>
          <p:nvPr/>
        </p:nvSpPr>
        <p:spPr>
          <a:xfrm>
            <a:off x="4800600" y="212140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Versic.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5806440" y="2121408"/>
            <a:ext cx="9144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0"/>
          <p:cNvSpPr/>
          <p:nvPr/>
        </p:nvSpPr>
        <p:spPr>
          <a:xfrm>
            <a:off x="5806440" y="212140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6720840" y="2121408"/>
            <a:ext cx="914400" cy="566928"/>
          </a:xfrm>
          <a:prstGeom prst="rect">
            <a:avLst/>
          </a:prstGeom>
          <a:solidFill>
            <a:srgbClr val="52A96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62"/>
          <p:cNvSpPr/>
          <p:nvPr/>
        </p:nvSpPr>
        <p:spPr>
          <a:xfrm>
            <a:off x="6720840" y="212140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66" name="Shape 63"/>
          <p:cNvSpPr/>
          <p:nvPr/>
        </p:nvSpPr>
        <p:spPr>
          <a:xfrm>
            <a:off x="7635240" y="2121408"/>
            <a:ext cx="914400" cy="566928"/>
          </a:xfrm>
          <a:prstGeom prst="rect">
            <a:avLst/>
          </a:prstGeom>
          <a:solidFill>
            <a:srgbClr val="C0392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Text 64"/>
          <p:cNvSpPr/>
          <p:nvPr/>
        </p:nvSpPr>
        <p:spPr>
          <a:xfrm>
            <a:off x="7635240" y="212140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8" name="Shape 65"/>
          <p:cNvSpPr/>
          <p:nvPr/>
        </p:nvSpPr>
        <p:spPr>
          <a:xfrm>
            <a:off x="4800600" y="2688336"/>
            <a:ext cx="1005840" cy="56692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9" name="Text 66"/>
          <p:cNvSpPr/>
          <p:nvPr/>
        </p:nvSpPr>
        <p:spPr>
          <a:xfrm>
            <a:off x="4800600" y="268833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Virgin.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5806440" y="2688336"/>
            <a:ext cx="9144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68"/>
          <p:cNvSpPr/>
          <p:nvPr/>
        </p:nvSpPr>
        <p:spPr>
          <a:xfrm>
            <a:off x="5806440" y="268833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6720840" y="2688336"/>
            <a:ext cx="9144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3" name="Text 70"/>
          <p:cNvSpPr/>
          <p:nvPr/>
        </p:nvSpPr>
        <p:spPr>
          <a:xfrm>
            <a:off x="6720840" y="268833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7635240" y="2688336"/>
            <a:ext cx="914400" cy="566928"/>
          </a:xfrm>
          <a:prstGeom prst="rect">
            <a:avLst/>
          </a:prstGeom>
          <a:solidFill>
            <a:srgbClr val="52A96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5" name="Text 72"/>
          <p:cNvSpPr/>
          <p:nvPr/>
        </p:nvSpPr>
        <p:spPr>
          <a:xfrm>
            <a:off x="7635240" y="268833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76" name="Shape 73"/>
          <p:cNvSpPr/>
          <p:nvPr/>
        </p:nvSpPr>
        <p:spPr>
          <a:xfrm>
            <a:off x="4800600" y="3346704"/>
            <a:ext cx="374904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7" name="Text 74"/>
          <p:cNvSpPr/>
          <p:nvPr/>
        </p:nvSpPr>
        <p:spPr>
          <a:xfrm>
            <a:off x="4800600" y="33467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95.6%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274320" y="44622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Leyenda: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1234440" y="4498848"/>
            <a:ext cx="228600" cy="20116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0" name="Text 77"/>
          <p:cNvSpPr/>
          <p:nvPr/>
        </p:nvSpPr>
        <p:spPr>
          <a:xfrm>
            <a:off x="1508760" y="4462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Aciertos (diagonal)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3886200" y="4498848"/>
            <a:ext cx="22860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2" name="Text 79"/>
          <p:cNvSpPr/>
          <p:nvPr/>
        </p:nvSpPr>
        <p:spPr>
          <a:xfrm>
            <a:off x="4160520" y="4462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(fuera de diagonal)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6537960" y="4498848"/>
            <a:ext cx="228600" cy="20116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4" name="Text 81"/>
          <p:cNvSpPr/>
          <p:nvPr/>
        </p:nvSpPr>
        <p:spPr>
          <a:xfrm>
            <a:off x="6812280" y="4462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casos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228600" y="4663440"/>
            <a:ext cx="8686800" cy="256032"/>
          </a:xfrm>
          <a:prstGeom prst="rect">
            <a:avLst/>
          </a:prstGeom>
          <a:solidFill>
            <a:srgbClr val="E8F0E9"/>
          </a:solidFill>
          <a:ln w="12700">
            <a:solidFill>
              <a:srgbClr val="E8F0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6" name="Text 83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KNN comete 1 error (Versicolor→Virginica). El Árbol comete 2 errores (2 Versicolor clasificadas como Virginica). Setosa: perfecta en ambos modelos.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Relación entre Código y Teoría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82880" y="4846320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Iris Dataset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" y="91440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228600" y="914400"/>
            <a:ext cx="27432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320040" y="9875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 separada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38328" y="1417320"/>
            <a:ext cx="254203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gráfico: grupo rojo aislado en esquina inferior izquierda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Pétalos muy pequeños (largo &lt; 2.5 cm)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modelos la clasifican perfectamente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de decisión: zona uniforme sin </a:t>
            </a:r>
            <a:r>
              <a:rPr lang="en-US" sz="11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confusión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154680" y="91440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3154680" y="914400"/>
            <a:ext cx="27432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3246120" y="9875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confusión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264408" y="1417320"/>
            <a:ext cx="254203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 y Virginica comparten rango de pétalo similar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puntos se solapan en la zona central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el modelo comete más errores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muestra fronteras curvas en </a:t>
            </a:r>
            <a:r>
              <a:rPr lang="en-US" sz="11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zona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80760" y="91440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6080760" y="914400"/>
            <a:ext cx="2743200" cy="54864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6172200" y="9875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visual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190488" y="1417320"/>
            <a:ext cx="254203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regiones de color del código replican lo visto en la teoría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limpia a la izquierda = Setosa fácil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de colores en el centro = zona difícil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mal clasificados = errores del </a:t>
            </a:r>
            <a:r>
              <a:rPr lang="en-US" sz="11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49885" y="2743200"/>
            <a:ext cx="4114800" cy="4114800"/>
          </a:xfrm>
          <a:prstGeom prst="ellipse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2C5F2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97BC62">
              <a:alpha val="15000"/>
            </a:srgbClr>
          </a:solidFill>
          <a:ln w="12700">
            <a:solidFill>
              <a:srgbClr val="97BC6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Conclusiones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Dataset es ideal para aprender clasificación: pequeño, limpio y bien documentado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solo 2 variables (pétalo) permite visualizar el aprendizaje en 2D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y Árbol de Decisión producen resultados similares pero con fronteras distintas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Comparar algoritmos revela ventajas y desventajas según el contexto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linealmente separable; Versicolor y Virginica requieren modelos más sofisticados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código Python con scikit-learn permite replicar estos resultados en pocas líneas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245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1189</Words>
  <Application>Microsoft Office PowerPoint</Application>
  <PresentationFormat>Presentación en pantalla (16:9)</PresentationFormat>
  <Paragraphs>229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Iris Dataset en Machine Learning</dc:title>
  <dc:subject>PptxGenJS Presentation</dc:subject>
  <dc:creator>ML Academy</dc:creator>
  <cp:lastModifiedBy>PARRA CABALLERO JUAN DAVID</cp:lastModifiedBy>
  <cp:revision>6</cp:revision>
  <dcterms:created xsi:type="dcterms:W3CDTF">2026-05-05T19:59:39Z</dcterms:created>
  <dcterms:modified xsi:type="dcterms:W3CDTF">2026-05-06T18:45:36Z</dcterms:modified>
</cp:coreProperties>
</file>